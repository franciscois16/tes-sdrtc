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63" r:id="rId4"/>
    <p:sldId id="267" r:id="rId5"/>
    <p:sldId id="268" r:id="rId6"/>
    <p:sldId id="269" r:id="rId7"/>
    <p:sldId id="259" r:id="rId8"/>
    <p:sldId id="270" r:id="rId9"/>
    <p:sldId id="271" r:id="rId10"/>
    <p:sldId id="26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2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anathael miranda chavez" userId="a25682eb2630d24f" providerId="LiveId" clId="{604D4B16-F708-4F8C-9E5E-D7A9956FF0F5}"/>
    <pc:docChg chg="undo custSel modSld">
      <pc:chgData name="francisco anathael miranda chavez" userId="a25682eb2630d24f" providerId="LiveId" clId="{604D4B16-F708-4F8C-9E5E-D7A9956FF0F5}" dt="2026-09-10T12:23:05.109" v="30" actId="1076"/>
      <pc:docMkLst>
        <pc:docMk/>
      </pc:docMkLst>
      <pc:sldChg chg="modSp mod">
        <pc:chgData name="francisco anathael miranda chavez" userId="a25682eb2630d24f" providerId="LiveId" clId="{604D4B16-F708-4F8C-9E5E-D7A9956FF0F5}" dt="2026-09-10T12:12:28.317" v="29" actId="20577"/>
        <pc:sldMkLst>
          <pc:docMk/>
          <pc:sldMk cId="0" sldId="256"/>
        </pc:sldMkLst>
        <pc:spChg chg="mod">
          <ac:chgData name="francisco anathael miranda chavez" userId="a25682eb2630d24f" providerId="LiveId" clId="{604D4B16-F708-4F8C-9E5E-D7A9956FF0F5}" dt="2026-09-10T12:12:28.317" v="29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francisco anathael miranda chavez" userId="a25682eb2630d24f" providerId="LiveId" clId="{604D4B16-F708-4F8C-9E5E-D7A9956FF0F5}" dt="2026-09-10T12:23:05.109" v="30" actId="1076"/>
        <pc:sldMkLst>
          <pc:docMk/>
          <pc:sldMk cId="0" sldId="259"/>
        </pc:sldMkLst>
        <pc:picChg chg="mod">
          <ac:chgData name="francisco anathael miranda chavez" userId="a25682eb2630d24f" providerId="LiveId" clId="{604D4B16-F708-4F8C-9E5E-D7A9956FF0F5}" dt="2026-09-10T12:23:05.109" v="30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francisco anathael miranda chavez" userId="a25682eb2630d24f" providerId="LiveId" clId="{604D4B16-F708-4F8C-9E5E-D7A9956FF0F5}" dt="2026-09-10T11:57:17.303" v="13" actId="403"/>
        <pc:sldMkLst>
          <pc:docMk/>
          <pc:sldMk cId="0" sldId="263"/>
        </pc:sldMkLst>
        <pc:spChg chg="mod">
          <ac:chgData name="francisco anathael miranda chavez" userId="a25682eb2630d24f" providerId="LiveId" clId="{604D4B16-F708-4F8C-9E5E-D7A9956FF0F5}" dt="2026-09-10T11:57:17.303" v="13" actId="403"/>
          <ac:spMkLst>
            <pc:docMk/>
            <pc:sldMk cId="0" sldId="263"/>
            <ac:spMk id="5" creationId="{00000000-0000-0000-0000-000000000000}"/>
          </ac:spMkLst>
        </pc:spChg>
        <pc:spChg chg="mod">
          <ac:chgData name="francisco anathael miranda chavez" userId="a25682eb2630d24f" providerId="LiveId" clId="{604D4B16-F708-4F8C-9E5E-D7A9956FF0F5}" dt="2026-09-10T11:57:17.303" v="13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francisco anathael miranda chavez" userId="a25682eb2630d24f" providerId="LiveId" clId="{604D4B16-F708-4F8C-9E5E-D7A9956FF0F5}" dt="2026-09-10T11:57:17.303" v="13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francisco anathael miranda chavez" userId="a25682eb2630d24f" providerId="LiveId" clId="{604D4B16-F708-4F8C-9E5E-D7A9956FF0F5}" dt="2026-09-10T11:57:17.303" v="13" actId="403"/>
          <ac:spMkLst>
            <pc:docMk/>
            <pc:sldMk cId="0" sldId="263"/>
            <ac:spMk id="8" creationId="{00000000-0000-0000-0000-000000000000}"/>
          </ac:spMkLst>
        </pc:spChg>
      </pc:sldChg>
      <pc:sldChg chg="modSp mod">
        <pc:chgData name="francisco anathael miranda chavez" userId="a25682eb2630d24f" providerId="LiveId" clId="{604D4B16-F708-4F8C-9E5E-D7A9956FF0F5}" dt="2026-09-10T11:56:56.626" v="11" actId="403"/>
        <pc:sldMkLst>
          <pc:docMk/>
          <pc:sldMk cId="3499782149" sldId="266"/>
        </pc:sldMkLst>
        <pc:spChg chg="mod">
          <ac:chgData name="francisco anathael miranda chavez" userId="a25682eb2630d24f" providerId="LiveId" clId="{604D4B16-F708-4F8C-9E5E-D7A9956FF0F5}" dt="2026-09-10T11:56:56.626" v="11" actId="403"/>
          <ac:spMkLst>
            <pc:docMk/>
            <pc:sldMk cId="3499782149" sldId="266"/>
            <ac:spMk id="20" creationId="{3C02C687-1972-D124-A6BD-117D4555B8C6}"/>
          </ac:spMkLst>
        </pc:spChg>
        <pc:spChg chg="mod">
          <ac:chgData name="francisco anathael miranda chavez" userId="a25682eb2630d24f" providerId="LiveId" clId="{604D4B16-F708-4F8C-9E5E-D7A9956FF0F5}" dt="2026-09-10T11:56:40.654" v="5" actId="403"/>
          <ac:spMkLst>
            <pc:docMk/>
            <pc:sldMk cId="3499782149" sldId="266"/>
            <ac:spMk id="22" creationId="{CAD4040F-EF13-B56B-6356-8EDB30C932E9}"/>
          </ac:spMkLst>
        </pc:spChg>
        <pc:spChg chg="mod">
          <ac:chgData name="francisco anathael miranda chavez" userId="a25682eb2630d24f" providerId="LiveId" clId="{604D4B16-F708-4F8C-9E5E-D7A9956FF0F5}" dt="2026-09-10T11:56:56.626" v="11" actId="403"/>
          <ac:spMkLst>
            <pc:docMk/>
            <pc:sldMk cId="3499782149" sldId="266"/>
            <ac:spMk id="28" creationId="{7E6F76EF-6582-8C38-D5B0-98A4083D6988}"/>
          </ac:spMkLst>
        </pc:spChg>
        <pc:spChg chg="mod">
          <ac:chgData name="francisco anathael miranda chavez" userId="a25682eb2630d24f" providerId="LiveId" clId="{604D4B16-F708-4F8C-9E5E-D7A9956FF0F5}" dt="2026-09-10T11:56:40.654" v="5" actId="403"/>
          <ac:spMkLst>
            <pc:docMk/>
            <pc:sldMk cId="3499782149" sldId="266"/>
            <ac:spMk id="30" creationId="{FC469EE7-2D58-797B-A064-847216B83A58}"/>
          </ac:spMkLst>
        </pc:spChg>
        <pc:spChg chg="mod">
          <ac:chgData name="francisco anathael miranda chavez" userId="a25682eb2630d24f" providerId="LiveId" clId="{604D4B16-F708-4F8C-9E5E-D7A9956FF0F5}" dt="2026-09-10T11:56:56.626" v="11" actId="403"/>
          <ac:spMkLst>
            <pc:docMk/>
            <pc:sldMk cId="3499782149" sldId="266"/>
            <ac:spMk id="36" creationId="{2CBF943E-4A9C-473D-9669-711638361476}"/>
          </ac:spMkLst>
        </pc:spChg>
        <pc:spChg chg="mod">
          <ac:chgData name="francisco anathael miranda chavez" userId="a25682eb2630d24f" providerId="LiveId" clId="{604D4B16-F708-4F8C-9E5E-D7A9956FF0F5}" dt="2026-09-10T11:56:40.654" v="5" actId="403"/>
          <ac:spMkLst>
            <pc:docMk/>
            <pc:sldMk cId="3499782149" sldId="266"/>
            <ac:spMk id="38" creationId="{7F929E67-7C74-DCC8-823C-85A9D895E8FD}"/>
          </ac:spMkLst>
        </pc:spChg>
        <pc:spChg chg="mod">
          <ac:chgData name="francisco anathael miranda chavez" userId="a25682eb2630d24f" providerId="LiveId" clId="{604D4B16-F708-4F8C-9E5E-D7A9956FF0F5}" dt="2026-09-10T11:56:56.626" v="11" actId="403"/>
          <ac:spMkLst>
            <pc:docMk/>
            <pc:sldMk cId="3499782149" sldId="266"/>
            <ac:spMk id="44" creationId="{A58E76E5-86E4-29D7-719F-B9575DFA6DBA}"/>
          </ac:spMkLst>
        </pc:spChg>
        <pc:spChg chg="mod">
          <ac:chgData name="francisco anathael miranda chavez" userId="a25682eb2630d24f" providerId="LiveId" clId="{604D4B16-F708-4F8C-9E5E-D7A9956FF0F5}" dt="2026-09-10T11:56:40.654" v="5" actId="403"/>
          <ac:spMkLst>
            <pc:docMk/>
            <pc:sldMk cId="3499782149" sldId="266"/>
            <ac:spMk id="46" creationId="{DA6C2001-B296-4A90-8C1C-85315B5F49CE}"/>
          </ac:spMkLst>
        </pc:spChg>
      </pc:sldChg>
      <pc:sldChg chg="modSp mod">
        <pc:chgData name="francisco anathael miranda chavez" userId="a25682eb2630d24f" providerId="LiveId" clId="{604D4B16-F708-4F8C-9E5E-D7A9956FF0F5}" dt="2026-09-10T11:57:34.479" v="16" actId="207"/>
        <pc:sldMkLst>
          <pc:docMk/>
          <pc:sldMk cId="3153693895" sldId="267"/>
        </pc:sldMkLst>
        <pc:spChg chg="mod">
          <ac:chgData name="francisco anathael miranda chavez" userId="a25682eb2630d24f" providerId="LiveId" clId="{604D4B16-F708-4F8C-9E5E-D7A9956FF0F5}" dt="2026-09-10T11:57:34.479" v="16" actId="207"/>
          <ac:spMkLst>
            <pc:docMk/>
            <pc:sldMk cId="3153693895" sldId="267"/>
            <ac:spMk id="80" creationId="{5F47F7C9-6CC7-42AC-7A3C-9FF80014EBF3}"/>
          </ac:spMkLst>
        </pc:spChg>
        <pc:spChg chg="mod">
          <ac:chgData name="francisco anathael miranda chavez" userId="a25682eb2630d24f" providerId="LiveId" clId="{604D4B16-F708-4F8C-9E5E-D7A9956FF0F5}" dt="2026-09-10T11:57:34.479" v="16" actId="207"/>
          <ac:spMkLst>
            <pc:docMk/>
            <pc:sldMk cId="3153693895" sldId="267"/>
            <ac:spMk id="90" creationId="{9A4EBB9F-E635-9648-C67D-47D123CE5068}"/>
          </ac:spMkLst>
        </pc:spChg>
        <pc:spChg chg="mod">
          <ac:chgData name="francisco anathael miranda chavez" userId="a25682eb2630d24f" providerId="LiveId" clId="{604D4B16-F708-4F8C-9E5E-D7A9956FF0F5}" dt="2026-09-10T11:57:34.479" v="16" actId="207"/>
          <ac:spMkLst>
            <pc:docMk/>
            <pc:sldMk cId="3153693895" sldId="267"/>
            <ac:spMk id="100" creationId="{E700ADB2-AF55-2233-365E-A5CD9E8303B8}"/>
          </ac:spMkLst>
        </pc:spChg>
        <pc:spChg chg="mod">
          <ac:chgData name="francisco anathael miranda chavez" userId="a25682eb2630d24f" providerId="LiveId" clId="{604D4B16-F708-4F8C-9E5E-D7A9956FF0F5}" dt="2026-09-10T11:57:34.479" v="16" actId="207"/>
          <ac:spMkLst>
            <pc:docMk/>
            <pc:sldMk cId="3153693895" sldId="267"/>
            <ac:spMk id="110" creationId="{6E1391D9-7460-4D12-4B93-6E612B348195}"/>
          </ac:spMkLst>
        </pc:spChg>
      </pc:sldChg>
      <pc:sldChg chg="modSp mod">
        <pc:chgData name="francisco anathael miranda chavez" userId="a25682eb2630d24f" providerId="LiveId" clId="{604D4B16-F708-4F8C-9E5E-D7A9956FF0F5}" dt="2026-09-10T11:58:00.782" v="21" actId="207"/>
        <pc:sldMkLst>
          <pc:docMk/>
          <pc:sldMk cId="1324333987" sldId="268"/>
        </pc:sldMkLst>
        <pc:spChg chg="mod">
          <ac:chgData name="francisco anathael miranda chavez" userId="a25682eb2630d24f" providerId="LiveId" clId="{604D4B16-F708-4F8C-9E5E-D7A9956FF0F5}" dt="2026-09-10T11:58:00.782" v="21" actId="207"/>
          <ac:spMkLst>
            <pc:docMk/>
            <pc:sldMk cId="1324333987" sldId="268"/>
            <ac:spMk id="15" creationId="{BADAA080-817E-819D-25C3-45A96C359B78}"/>
          </ac:spMkLst>
        </pc:spChg>
        <pc:spChg chg="mod">
          <ac:chgData name="francisco anathael miranda chavez" userId="a25682eb2630d24f" providerId="LiveId" clId="{604D4B16-F708-4F8C-9E5E-D7A9956FF0F5}" dt="2026-09-10T11:58:00.782" v="21" actId="207"/>
          <ac:spMkLst>
            <pc:docMk/>
            <pc:sldMk cId="1324333987" sldId="268"/>
            <ac:spMk id="23" creationId="{068E74AD-BED9-F57F-A4EE-C0B5F76FECC0}"/>
          </ac:spMkLst>
        </pc:spChg>
        <pc:spChg chg="mod">
          <ac:chgData name="francisco anathael miranda chavez" userId="a25682eb2630d24f" providerId="LiveId" clId="{604D4B16-F708-4F8C-9E5E-D7A9956FF0F5}" dt="2026-09-10T11:58:00.782" v="21" actId="207"/>
          <ac:spMkLst>
            <pc:docMk/>
            <pc:sldMk cId="1324333987" sldId="268"/>
            <ac:spMk id="31" creationId="{61AEA7AD-8718-749F-03EB-F009A3BD7433}"/>
          </ac:spMkLst>
        </pc:spChg>
        <pc:spChg chg="mod">
          <ac:chgData name="francisco anathael miranda chavez" userId="a25682eb2630d24f" providerId="LiveId" clId="{604D4B16-F708-4F8C-9E5E-D7A9956FF0F5}" dt="2026-09-10T11:58:00.782" v="21" actId="207"/>
          <ac:spMkLst>
            <pc:docMk/>
            <pc:sldMk cId="1324333987" sldId="268"/>
            <ac:spMk id="39" creationId="{9945051C-7B34-83A0-4113-CECF8681B8C9}"/>
          </ac:spMkLst>
        </pc:spChg>
      </pc:sldChg>
      <pc:sldChg chg="modSp mod">
        <pc:chgData name="francisco anathael miranda chavez" userId="a25682eb2630d24f" providerId="LiveId" clId="{604D4B16-F708-4F8C-9E5E-D7A9956FF0F5}" dt="2026-09-10T11:58:23.168" v="24" actId="403"/>
        <pc:sldMkLst>
          <pc:docMk/>
          <pc:sldMk cId="562259215" sldId="271"/>
        </pc:sldMkLst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9" creationId="{78CA5BB4-4DBF-B0FF-BD30-1A73BBB2C3C9}"/>
          </ac:spMkLst>
        </pc:spChg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13" creationId="{EBFC9EC1-D438-66D6-F809-079FD04C198E}"/>
          </ac:spMkLst>
        </pc:spChg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17" creationId="{09FC42CF-36DE-6566-1FD1-F1AB3F44AC12}"/>
          </ac:spMkLst>
        </pc:spChg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21" creationId="{71F404D1-502D-B954-05E3-C5BFF4E16894}"/>
          </ac:spMkLst>
        </pc:spChg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25" creationId="{FD3B3285-AFDF-21B0-84C1-1CEB42460A6D}"/>
          </ac:spMkLst>
        </pc:spChg>
        <pc:spChg chg="mod">
          <ac:chgData name="francisco anathael miranda chavez" userId="a25682eb2630d24f" providerId="LiveId" clId="{604D4B16-F708-4F8C-9E5E-D7A9956FF0F5}" dt="2026-09-10T11:58:23.168" v="24" actId="403"/>
          <ac:spMkLst>
            <pc:docMk/>
            <pc:sldMk cId="562259215" sldId="271"/>
            <ac:spMk id="30" creationId="{12C00314-D80C-1DEA-90EE-18DFD5DB7AD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676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76881-4409-7AF8-4319-FC12A11E5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8C141-5FA6-3050-8E5E-D4B88EB4F2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825AE-2F69-E7CD-05A0-666880985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6A213-1EC4-3B93-2EDB-54D0CAD30A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0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01B5-3A59-8BDB-5998-7540865C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A71A6-8464-3751-2084-E018433F9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7132B3-DD47-94F5-2B20-FEFA273D4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CA488-595C-272F-E674-4C494D15DE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13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C1B3-7FD6-8443-09BD-66FC16CFA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B4276-DEAA-D3BE-B8F9-AF580E4BB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A0E3A-B098-22AD-CB76-68F1B9492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8CD5-5ECD-601C-F494-9AC73E433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8374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0698480" y="4937760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</a:t>
            </a:r>
            <a:r>
              <a:rPr lang="en-US" sz="1300" b="1" kern="0" spc="200" dirty="0" err="1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r>
              <a:rPr lang="en-US" sz="1300" b="1" kern="0" spc="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9875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Digitalización de Rutas y Sistema de</a:t>
            </a:r>
            <a:endParaRPr lang="en-US" sz="36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de Taxis Colectivos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trazados oficiales en papel a un dataset abierto y un algoritmo de recomendación — Punta Arenas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4343400"/>
            <a:ext cx="310896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 txBox="1"/>
          <p:nvPr/>
        </p:nvSpPr>
        <p:spPr>
          <a:xfrm>
            <a:off x="731520" y="4572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Anathael Miranda Chávez
</a:t>
            </a:r>
            <a:r>
              <a:rPr lang="en-US" sz="14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 guía: Eduardo Peña Jaramillo
Ingeniería en Computación e Informática — Universidad de Magallanes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de </a:t>
            </a:r>
            <a:r>
              <a:rPr lang="en-US" sz="1000" dirty="0" err="1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4D4FC-4A5D-B743-A9E4-6E5226052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9B1D8AF2-CCED-724E-53DF-F6E99AFBE022}"/>
              </a:ext>
            </a:extLst>
          </p:cNvPr>
          <p:cNvSpPr/>
          <p:nvPr/>
        </p:nvSpPr>
        <p:spPr>
          <a:xfrm>
            <a:off x="-1245870" y="5180000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51A5958E-525A-590C-420E-5D380CF2A4C6}"/>
              </a:ext>
            </a:extLst>
          </p:cNvPr>
          <p:cNvSpPr txBox="1"/>
          <p:nvPr/>
        </p:nvSpPr>
        <p:spPr>
          <a:xfrm>
            <a:off x="548640" y="4114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chemeClr val="bg1"/>
                </a:solidFill>
                <a:latin typeface="Cambria"/>
              </a:rPr>
              <a:t>Contexto y problemática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A42127A8-9D64-6AA7-134A-F38F830095C9}"/>
              </a:ext>
            </a:extLst>
          </p:cNvPr>
          <p:cNvSpPr txBox="1"/>
          <p:nvPr/>
        </p:nvSpPr>
        <p:spPr>
          <a:xfrm>
            <a:off x="548640" y="881740"/>
            <a:ext cx="10927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chemeClr val="bg1"/>
                </a:solidFill>
                <a:latin typeface="Calibri"/>
              </a:rPr>
              <a:t>¿Por qué digitalizar las rutas de los taxis colectivos de Punta Arenas?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7DFEF2A7-76F3-3B6B-072D-24BEECEAC2C0}"/>
              </a:ext>
            </a:extLst>
          </p:cNvPr>
          <p:cNvSpPr/>
          <p:nvPr/>
        </p:nvSpPr>
        <p:spPr>
          <a:xfrm>
            <a:off x="548640" y="112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1B23BB30-2A05-B59A-300E-FFD84BD0E94F}"/>
              </a:ext>
            </a:extLst>
          </p:cNvPr>
          <p:cNvSpPr/>
          <p:nvPr/>
        </p:nvSpPr>
        <p:spPr>
          <a:xfrm>
            <a:off x="548640" y="1255000"/>
            <a:ext cx="340000" cy="34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Calibri"/>
              </a:rPr>
              <a:t>1</a:t>
            </a:r>
          </a:p>
        </p:txBody>
      </p:sp>
      <p:sp>
        <p:nvSpPr>
          <p:cNvPr id="20" name="TextBox 5">
            <a:extLst>
              <a:ext uri="{FF2B5EF4-FFF2-40B4-BE49-F238E27FC236}">
                <a16:creationId xmlns:a16="http://schemas.microsoft.com/office/drawing/2014/main" id="{3C02C687-1972-D124-A6BD-117D4555B8C6}"/>
              </a:ext>
            </a:extLst>
          </p:cNvPr>
          <p:cNvSpPr txBox="1"/>
          <p:nvPr/>
        </p:nvSpPr>
        <p:spPr>
          <a:xfrm>
            <a:off x="998640" y="1200000"/>
            <a:ext cx="104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Calibri"/>
              </a:rPr>
              <a:t>Sin información digital oficial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CAD4040F-EF13-B56B-6356-8EDB30C932E9}"/>
              </a:ext>
            </a:extLst>
          </p:cNvPr>
          <p:cNvSpPr txBox="1"/>
          <p:nvPr/>
        </p:nvSpPr>
        <p:spPr>
          <a:xfrm>
            <a:off x="998640" y="1530000"/>
            <a:ext cx="104770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chemeClr val="bg1"/>
                </a:solidFill>
                <a:latin typeface="Calibri"/>
              </a:rPr>
              <a:t>Los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trazados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de las 21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líneas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existen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solo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como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trámite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administrativo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en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la SEREMI de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Transportes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(RNSTP). No hay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mapa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,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ni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 dataset </a:t>
            </a:r>
            <a:r>
              <a:rPr sz="1400" b="0" dirty="0" err="1">
                <a:solidFill>
                  <a:schemeClr val="bg1"/>
                </a:solidFill>
                <a:latin typeface="Calibri"/>
              </a:rPr>
              <a:t>abierto</a:t>
            </a:r>
            <a:r>
              <a:rPr sz="1400" b="0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24" name="Rectangle 7">
            <a:extLst>
              <a:ext uri="{FF2B5EF4-FFF2-40B4-BE49-F238E27FC236}">
                <a16:creationId xmlns:a16="http://schemas.microsoft.com/office/drawing/2014/main" id="{24568347-1254-A4FB-0E64-92DDD9D1C4B4}"/>
              </a:ext>
            </a:extLst>
          </p:cNvPr>
          <p:cNvSpPr/>
          <p:nvPr/>
        </p:nvSpPr>
        <p:spPr>
          <a:xfrm>
            <a:off x="548640" y="237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EA284800-7745-D1F6-6393-CF99DB804801}"/>
              </a:ext>
            </a:extLst>
          </p:cNvPr>
          <p:cNvSpPr/>
          <p:nvPr/>
        </p:nvSpPr>
        <p:spPr>
          <a:xfrm>
            <a:off x="548640" y="2455000"/>
            <a:ext cx="340000" cy="34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Calibri"/>
              </a:rPr>
              <a:t>2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7E6F76EF-6582-8C38-D5B0-98A4083D6988}"/>
              </a:ext>
            </a:extLst>
          </p:cNvPr>
          <p:cNvSpPr txBox="1"/>
          <p:nvPr/>
        </p:nvSpPr>
        <p:spPr>
          <a:xfrm>
            <a:off x="998640" y="2400000"/>
            <a:ext cx="104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chemeClr val="bg1"/>
                </a:solidFill>
                <a:latin typeface="Calibri"/>
              </a:rPr>
              <a:t>Alta superposición de líneas</a:t>
            </a: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C469EE7-2D58-797B-A064-847216B83A58}"/>
              </a:ext>
            </a:extLst>
          </p:cNvPr>
          <p:cNvSpPr txBox="1"/>
          <p:nvPr/>
        </p:nvSpPr>
        <p:spPr>
          <a:xfrm>
            <a:off x="998640" y="2730000"/>
            <a:ext cx="10477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En el centro de la ciudad, múltiples líneas comparten recorridos. Determinar qué colectivo sirve un trayecto no es trivial y tiene varias respuestas posibles.</a:t>
            </a:r>
          </a:p>
        </p:txBody>
      </p:sp>
      <p:sp>
        <p:nvSpPr>
          <p:cNvPr id="32" name="Rectangle 11">
            <a:extLst>
              <a:ext uri="{FF2B5EF4-FFF2-40B4-BE49-F238E27FC236}">
                <a16:creationId xmlns:a16="http://schemas.microsoft.com/office/drawing/2014/main" id="{8AABCC03-3123-E078-1290-67231F42F8C1}"/>
              </a:ext>
            </a:extLst>
          </p:cNvPr>
          <p:cNvSpPr/>
          <p:nvPr/>
        </p:nvSpPr>
        <p:spPr>
          <a:xfrm>
            <a:off x="548640" y="357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A4CE410E-C771-6FA1-0D7B-781BD77B1DA6}"/>
              </a:ext>
            </a:extLst>
          </p:cNvPr>
          <p:cNvSpPr/>
          <p:nvPr/>
        </p:nvSpPr>
        <p:spPr>
          <a:xfrm>
            <a:off x="548640" y="3655000"/>
            <a:ext cx="340000" cy="34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Calibri"/>
              </a:rPr>
              <a:t>3</a:t>
            </a:r>
          </a:p>
        </p:txBody>
      </p:sp>
      <p:sp>
        <p:nvSpPr>
          <p:cNvPr id="36" name="TextBox 13">
            <a:extLst>
              <a:ext uri="{FF2B5EF4-FFF2-40B4-BE49-F238E27FC236}">
                <a16:creationId xmlns:a16="http://schemas.microsoft.com/office/drawing/2014/main" id="{2CBF943E-4A9C-473D-9669-711638361476}"/>
              </a:ext>
            </a:extLst>
          </p:cNvPr>
          <p:cNvSpPr txBox="1"/>
          <p:nvPr/>
        </p:nvSpPr>
        <p:spPr>
          <a:xfrm>
            <a:off x="998640" y="3600000"/>
            <a:ext cx="104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chemeClr val="bg1"/>
                </a:solidFill>
                <a:latin typeface="Calibri"/>
              </a:rPr>
              <a:t>Sin </a:t>
            </a:r>
            <a:r>
              <a:rPr sz="1600" b="1" dirty="0" err="1">
                <a:solidFill>
                  <a:schemeClr val="bg1"/>
                </a:solidFill>
                <a:latin typeface="Calibri"/>
              </a:rPr>
              <a:t>herramienta</a:t>
            </a:r>
            <a:r>
              <a:rPr sz="1600" b="1" dirty="0">
                <a:solidFill>
                  <a:schemeClr val="bg1"/>
                </a:solidFill>
                <a:latin typeface="Calibri"/>
              </a:rPr>
              <a:t> para el </a:t>
            </a:r>
            <a:r>
              <a:rPr sz="1600" b="1" dirty="0" err="1">
                <a:solidFill>
                  <a:schemeClr val="bg1"/>
                </a:solidFill>
                <a:latin typeface="Calibri"/>
              </a:rPr>
              <a:t>usuario</a:t>
            </a:r>
            <a:endParaRPr sz="16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38" name="TextBox 14">
            <a:extLst>
              <a:ext uri="{FF2B5EF4-FFF2-40B4-BE49-F238E27FC236}">
                <a16:creationId xmlns:a16="http://schemas.microsoft.com/office/drawing/2014/main" id="{7F929E67-7C74-DCC8-823C-85A9D895E8FD}"/>
              </a:ext>
            </a:extLst>
          </p:cNvPr>
          <p:cNvSpPr txBox="1"/>
          <p:nvPr/>
        </p:nvSpPr>
        <p:spPr>
          <a:xfrm>
            <a:off x="998640" y="3930000"/>
            <a:ext cx="10477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No existe aplicación ni sistema que ayude a encontrar qué colectivo tomar entre dos puntos. La información circula solo de forma oral o informal.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29AF46DA-9D8A-9306-09F6-73DC9A578A95}"/>
              </a:ext>
            </a:extLst>
          </p:cNvPr>
          <p:cNvSpPr/>
          <p:nvPr/>
        </p:nvSpPr>
        <p:spPr>
          <a:xfrm>
            <a:off x="548640" y="477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2" name="Rectangle 16">
            <a:extLst>
              <a:ext uri="{FF2B5EF4-FFF2-40B4-BE49-F238E27FC236}">
                <a16:creationId xmlns:a16="http://schemas.microsoft.com/office/drawing/2014/main" id="{02A6E625-AF4F-2574-C409-63F978FA502F}"/>
              </a:ext>
            </a:extLst>
          </p:cNvPr>
          <p:cNvSpPr/>
          <p:nvPr/>
        </p:nvSpPr>
        <p:spPr>
          <a:xfrm>
            <a:off x="548640" y="4855000"/>
            <a:ext cx="340000" cy="34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500" b="1">
                <a:solidFill>
                  <a:schemeClr val="bg1"/>
                </a:solidFill>
                <a:latin typeface="Calibri"/>
              </a:rPr>
              <a:t>4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A58E76E5-86E4-29D7-719F-B9575DFA6DBA}"/>
              </a:ext>
            </a:extLst>
          </p:cNvPr>
          <p:cNvSpPr txBox="1"/>
          <p:nvPr/>
        </p:nvSpPr>
        <p:spPr>
          <a:xfrm>
            <a:off x="998640" y="4800000"/>
            <a:ext cx="1047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dirty="0" err="1">
                <a:solidFill>
                  <a:schemeClr val="bg1"/>
                </a:solidFill>
                <a:latin typeface="Calibri"/>
              </a:rPr>
              <a:t>Oportunidad</a:t>
            </a:r>
            <a:r>
              <a:rPr sz="1600" b="1" dirty="0">
                <a:solidFill>
                  <a:schemeClr val="bg1"/>
                </a:solidFill>
                <a:latin typeface="Calibri"/>
              </a:rPr>
              <a:t> de </a:t>
            </a:r>
            <a:r>
              <a:rPr sz="1600" b="1" dirty="0" err="1">
                <a:solidFill>
                  <a:schemeClr val="bg1"/>
                </a:solidFill>
                <a:latin typeface="Calibri"/>
              </a:rPr>
              <a:t>investigación</a:t>
            </a:r>
            <a:endParaRPr sz="16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DA6C2001-B296-4A90-8C1C-85315B5F49CE}"/>
              </a:ext>
            </a:extLst>
          </p:cNvPr>
          <p:cNvSpPr txBox="1"/>
          <p:nvPr/>
        </p:nvSpPr>
        <p:spPr>
          <a:xfrm>
            <a:off x="998640" y="5130000"/>
            <a:ext cx="10477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bg1"/>
                </a:solidFill>
                <a:latin typeface="Calibri"/>
              </a:rPr>
              <a:t>Construir un dataset abierto y formalizar la recomendación algorítmicamente es un problema científico concreto, replicable y con impacto real.</a:t>
            </a:r>
          </a:p>
        </p:txBody>
      </p:sp>
      <p:sp>
        <p:nvSpPr>
          <p:cNvPr id="48" name="TextBox 19">
            <a:extLst>
              <a:ext uri="{FF2B5EF4-FFF2-40B4-BE49-F238E27FC236}">
                <a16:creationId xmlns:a16="http://schemas.microsoft.com/office/drawing/2014/main" id="{475F9A6E-0E39-5E1B-1BDB-85EA1F2953FA}"/>
              </a:ext>
            </a:extLst>
          </p:cNvPr>
          <p:cNvSpPr txBox="1"/>
          <p:nvPr/>
        </p:nvSpPr>
        <p:spPr>
          <a:xfrm>
            <a:off x="457200" y="6473952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  <a:latin typeface="Calibri"/>
              </a:rPr>
              <a:t>Contexto</a:t>
            </a:r>
          </a:p>
        </p:txBody>
      </p:sp>
      <p:sp>
        <p:nvSpPr>
          <p:cNvPr id="50" name="TextBox 20">
            <a:extLst>
              <a:ext uri="{FF2B5EF4-FFF2-40B4-BE49-F238E27FC236}">
                <a16:creationId xmlns:a16="http://schemas.microsoft.com/office/drawing/2014/main" id="{19DB88B6-9C57-AEBB-79E1-B771DD02F699}"/>
              </a:ext>
            </a:extLst>
          </p:cNvPr>
          <p:cNvSpPr txBox="1"/>
          <p:nvPr/>
        </p:nvSpPr>
        <p:spPr>
          <a:xfrm>
            <a:off x="7589520" y="6473952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chemeClr val="bg1"/>
                </a:solidFill>
                <a:latin typeface="Calibri"/>
              </a:rPr>
              <a:t>Francisco Miranda · Ing. en Computación e Informática · UMAG</a:t>
            </a: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F730467-88A4-5CF2-7F46-31F93E7B63A5}"/>
              </a:ext>
            </a:extLst>
          </p:cNvPr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99782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D267F7AA-1E8B-E1DE-CE1A-429831BEFCB5}"/>
              </a:ext>
            </a:extLst>
          </p:cNvPr>
          <p:cNvSpPr/>
          <p:nvPr/>
        </p:nvSpPr>
        <p:spPr>
          <a:xfrm>
            <a:off x="-1634865" y="415000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74E3A95D-8A2C-826B-D60B-A6EC62E79D0F}"/>
              </a:ext>
            </a:extLst>
          </p:cNvPr>
          <p:cNvSpPr/>
          <p:nvPr/>
        </p:nvSpPr>
        <p:spPr>
          <a:xfrm>
            <a:off x="714000" y="10680192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TextBox 1"/>
          <p:cNvSpPr txBox="1"/>
          <p:nvPr/>
        </p:nvSpPr>
        <p:spPr>
          <a:xfrm>
            <a:off x="548640" y="600000"/>
            <a:ext cx="1092708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D9E75"/>
                </a:solidFill>
                <a:latin typeface="Cambria"/>
              </a:rPr>
              <a:t>Pregunta de investigación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50000"/>
            <a:ext cx="3000000" cy="18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00000"/>
            <a:ext cx="1092708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mbria"/>
              </a:rPr>
              <a:t>¿Cómo identificar computacionalmente qué línea de taxi colectivo conecta un origen con un destino en Punta Arenas, dado que el sistema opera sin paradas fijas y con alta superposición de trazados en zonas céntricas?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000"/>
            <a:ext cx="1092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Calibri"/>
              </a:rPr>
              <a:t>Esta pregunta implica tres subproblemas: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8640" y="3650000"/>
            <a:ext cx="1092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Calibri"/>
              </a:rPr>
              <a:t>  1.  Digitalizar los trazados → dataset abierto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640" y="4050000"/>
            <a:ext cx="1092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Calibri"/>
              </a:rPr>
              <a:t>  2.  Formalizar la noción de «la línea sirve el trayecto» → definición operacional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640" y="4450000"/>
            <a:ext cx="10927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8ECF5"/>
                </a:solidFill>
                <a:latin typeface="Calibri"/>
              </a:rPr>
              <a:t>  3.  Comparar estrategias algorítmicas con evidencia empírica → ground truth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C97AD"/>
                </a:solidFill>
                <a:latin typeface="Calibri"/>
              </a:rPr>
              <a:t>Pregunta de investigación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C97AD"/>
                </a:solidFill>
                <a:latin typeface="Calibri"/>
              </a:rPr>
              <a:t>Francisco Miranda · Ing. en Computación e Informática · UMAG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676C91-CE70-2200-97A3-2A4C68116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>
            <a:extLst>
              <a:ext uri="{FF2B5EF4-FFF2-40B4-BE49-F238E27FC236}">
                <a16:creationId xmlns:a16="http://schemas.microsoft.com/office/drawing/2014/main" id="{951BD5BE-8712-63BD-3842-57E3AAB5101C}"/>
              </a:ext>
            </a:extLst>
          </p:cNvPr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8" name="Shape 1">
            <a:extLst>
              <a:ext uri="{FF2B5EF4-FFF2-40B4-BE49-F238E27FC236}">
                <a16:creationId xmlns:a16="http://schemas.microsoft.com/office/drawing/2014/main" id="{E697B477-FAA4-802B-8D35-F938FDA07AA3}"/>
              </a:ext>
            </a:extLst>
          </p:cNvPr>
          <p:cNvSpPr/>
          <p:nvPr/>
        </p:nvSpPr>
        <p:spPr>
          <a:xfrm>
            <a:off x="10698480" y="4937760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4" name="Text 0">
            <a:extLst>
              <a:ext uri="{FF2B5EF4-FFF2-40B4-BE49-F238E27FC236}">
                <a16:creationId xmlns:a16="http://schemas.microsoft.com/office/drawing/2014/main" id="{D7A894C0-F4B1-00E5-9846-FDA3957117EC}"/>
              </a:ext>
            </a:extLst>
          </p:cNvPr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66" name="Shape 1">
            <a:extLst>
              <a:ext uri="{FF2B5EF4-FFF2-40B4-BE49-F238E27FC236}">
                <a16:creationId xmlns:a16="http://schemas.microsoft.com/office/drawing/2014/main" id="{476C46CB-7B22-7778-4940-DD3F82EEF3B1}"/>
              </a:ext>
            </a:extLst>
          </p:cNvPr>
          <p:cNvSpPr/>
          <p:nvPr/>
        </p:nvSpPr>
        <p:spPr>
          <a:xfrm>
            <a:off x="548640" y="123444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68" name="Text 2">
            <a:extLst>
              <a:ext uri="{FF2B5EF4-FFF2-40B4-BE49-F238E27FC236}">
                <a16:creationId xmlns:a16="http://schemas.microsoft.com/office/drawing/2014/main" id="{01B9F9BD-5704-BF32-EDEC-AA720A626EFB}"/>
              </a:ext>
            </a:extLst>
          </p:cNvPr>
          <p:cNvSpPr txBox="1"/>
          <p:nvPr/>
        </p:nvSpPr>
        <p:spPr>
          <a:xfrm>
            <a:off x="868680" y="1353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050" dirty="0"/>
          </a:p>
        </p:txBody>
      </p:sp>
      <p:sp>
        <p:nvSpPr>
          <p:cNvPr id="70" name="Text 3">
            <a:extLst>
              <a:ext uri="{FF2B5EF4-FFF2-40B4-BE49-F238E27FC236}">
                <a16:creationId xmlns:a16="http://schemas.microsoft.com/office/drawing/2014/main" id="{1656B7AC-8659-42CC-C263-30EA9ECB38A4}"/>
              </a:ext>
            </a:extLst>
          </p:cNvPr>
          <p:cNvSpPr txBox="1"/>
          <p:nvPr/>
        </p:nvSpPr>
        <p:spPr>
          <a:xfrm>
            <a:off x="868680" y="1627632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sistema de recomendación de rutas de taxis colectivos para Punta Arenas, basado en un dataset abierto construido a partir de los trazados oficialmente registrados, y en un algoritmo de búsqueda geoespacial validado con usuarios reales.</a:t>
            </a:r>
            <a:endParaRPr lang="en-US" sz="1300" dirty="0"/>
          </a:p>
        </p:txBody>
      </p:sp>
      <p:sp>
        <p:nvSpPr>
          <p:cNvPr id="72" name="Shape 4">
            <a:extLst>
              <a:ext uri="{FF2B5EF4-FFF2-40B4-BE49-F238E27FC236}">
                <a16:creationId xmlns:a16="http://schemas.microsoft.com/office/drawing/2014/main" id="{61ED4E4E-73E9-863B-FFE3-73B07F67B767}"/>
              </a:ext>
            </a:extLst>
          </p:cNvPr>
          <p:cNvSpPr/>
          <p:nvPr/>
        </p:nvSpPr>
        <p:spPr>
          <a:xfrm>
            <a:off x="548640" y="2606040"/>
            <a:ext cx="2724912" cy="3246120"/>
          </a:xfrm>
          <a:prstGeom prst="roundRect">
            <a:avLst>
              <a:gd name="adj" fmla="val 2349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74" name="Shape 5">
            <a:extLst>
              <a:ext uri="{FF2B5EF4-FFF2-40B4-BE49-F238E27FC236}">
                <a16:creationId xmlns:a16="http://schemas.microsoft.com/office/drawing/2014/main" id="{9C3D0288-BA7D-5338-13A6-1E5E238E0051}"/>
              </a:ext>
            </a:extLst>
          </p:cNvPr>
          <p:cNvSpPr/>
          <p:nvPr/>
        </p:nvSpPr>
        <p:spPr>
          <a:xfrm>
            <a:off x="749808" y="2834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6" name="Text 6">
            <a:extLst>
              <a:ext uri="{FF2B5EF4-FFF2-40B4-BE49-F238E27FC236}">
                <a16:creationId xmlns:a16="http://schemas.microsoft.com/office/drawing/2014/main" id="{0F46AAAC-4E1C-5758-322C-92D23A51D8AB}"/>
              </a:ext>
            </a:extLst>
          </p:cNvPr>
          <p:cNvSpPr txBox="1"/>
          <p:nvPr/>
        </p:nvSpPr>
        <p:spPr>
          <a:xfrm>
            <a:off x="749808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8" name="Text 7">
            <a:extLst>
              <a:ext uri="{FF2B5EF4-FFF2-40B4-BE49-F238E27FC236}">
                <a16:creationId xmlns:a16="http://schemas.microsoft.com/office/drawing/2014/main" id="{385BD4AA-CD2D-006F-2DA2-513128B4A26C}"/>
              </a:ext>
            </a:extLst>
          </p:cNvPr>
          <p:cNvSpPr txBox="1"/>
          <p:nvPr/>
        </p:nvSpPr>
        <p:spPr>
          <a:xfrm>
            <a:off x="731520" y="34747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los trazados oficiales</a:t>
            </a:r>
            <a:endParaRPr lang="en-US" sz="1350" dirty="0"/>
          </a:p>
        </p:txBody>
      </p:sp>
      <p:sp>
        <p:nvSpPr>
          <p:cNvPr id="80" name="Text 8">
            <a:extLst>
              <a:ext uri="{FF2B5EF4-FFF2-40B4-BE49-F238E27FC236}">
                <a16:creationId xmlns:a16="http://schemas.microsoft.com/office/drawing/2014/main" id="{5F47F7C9-6CC7-42AC-7A3C-9FF80014EBF3}"/>
              </a:ext>
            </a:extLst>
          </p:cNvPr>
          <p:cNvSpPr txBox="1"/>
          <p:nvPr/>
        </p:nvSpPr>
        <p:spPr>
          <a:xfrm>
            <a:off x="731520" y="4206240"/>
            <a:ext cx="2359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Obtener y estructurar los recorridos registrados en la SEREMI (RNSTP) como dataset abierto.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2" name="Shape 9">
            <a:extLst>
              <a:ext uri="{FF2B5EF4-FFF2-40B4-BE49-F238E27FC236}">
                <a16:creationId xmlns:a16="http://schemas.microsoft.com/office/drawing/2014/main" id="{4024189B-5355-6479-95C8-3B2E44D8FD6C}"/>
              </a:ext>
            </a:extLst>
          </p:cNvPr>
          <p:cNvSpPr/>
          <p:nvPr/>
        </p:nvSpPr>
        <p:spPr>
          <a:xfrm>
            <a:off x="3419856" y="2606040"/>
            <a:ext cx="2724912" cy="3246120"/>
          </a:xfrm>
          <a:prstGeom prst="roundRect">
            <a:avLst>
              <a:gd name="adj" fmla="val 2349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84" name="Shape 10">
            <a:extLst>
              <a:ext uri="{FF2B5EF4-FFF2-40B4-BE49-F238E27FC236}">
                <a16:creationId xmlns:a16="http://schemas.microsoft.com/office/drawing/2014/main" id="{05231840-2A69-DE50-C6D5-A26FA43455AC}"/>
              </a:ext>
            </a:extLst>
          </p:cNvPr>
          <p:cNvSpPr/>
          <p:nvPr/>
        </p:nvSpPr>
        <p:spPr>
          <a:xfrm>
            <a:off x="3621024" y="2834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6" name="Text 11">
            <a:extLst>
              <a:ext uri="{FF2B5EF4-FFF2-40B4-BE49-F238E27FC236}">
                <a16:creationId xmlns:a16="http://schemas.microsoft.com/office/drawing/2014/main" id="{187A4E08-87BF-10B2-CC8A-BEAFCCFAD910}"/>
              </a:ext>
            </a:extLst>
          </p:cNvPr>
          <p:cNvSpPr txBox="1"/>
          <p:nvPr/>
        </p:nvSpPr>
        <p:spPr>
          <a:xfrm>
            <a:off x="3621024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76C57154-D64B-192D-10A3-D7275307BF13}"/>
              </a:ext>
            </a:extLst>
          </p:cNvPr>
          <p:cNvSpPr txBox="1"/>
          <p:nvPr/>
        </p:nvSpPr>
        <p:spPr>
          <a:xfrm>
            <a:off x="3602736" y="34747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la recomendación</a:t>
            </a:r>
            <a:endParaRPr lang="en-US" sz="1350" dirty="0"/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9A4EBB9F-E635-9648-C67D-47D123CE5068}"/>
              </a:ext>
            </a:extLst>
          </p:cNvPr>
          <p:cNvSpPr txBox="1"/>
          <p:nvPr/>
        </p:nvSpPr>
        <p:spPr>
          <a:xfrm>
            <a:off x="3602736" y="4206240"/>
            <a:ext cx="2359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con precisión qué significa que una línea "sirva" un trayecto: radio, sentido, orden origen→destino.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2" name="Shape 14">
            <a:extLst>
              <a:ext uri="{FF2B5EF4-FFF2-40B4-BE49-F238E27FC236}">
                <a16:creationId xmlns:a16="http://schemas.microsoft.com/office/drawing/2014/main" id="{3BB613CD-BCA0-8468-D96E-8B6BF95024A7}"/>
              </a:ext>
            </a:extLst>
          </p:cNvPr>
          <p:cNvSpPr/>
          <p:nvPr/>
        </p:nvSpPr>
        <p:spPr>
          <a:xfrm>
            <a:off x="6291072" y="2606040"/>
            <a:ext cx="2724912" cy="3246120"/>
          </a:xfrm>
          <a:prstGeom prst="roundRect">
            <a:avLst>
              <a:gd name="adj" fmla="val 2349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94" name="Shape 15">
            <a:extLst>
              <a:ext uri="{FF2B5EF4-FFF2-40B4-BE49-F238E27FC236}">
                <a16:creationId xmlns:a16="http://schemas.microsoft.com/office/drawing/2014/main" id="{3967C266-0DD3-0071-F34C-26B0A712688A}"/>
              </a:ext>
            </a:extLst>
          </p:cNvPr>
          <p:cNvSpPr/>
          <p:nvPr/>
        </p:nvSpPr>
        <p:spPr>
          <a:xfrm>
            <a:off x="6492240" y="2834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6" name="Text 16">
            <a:extLst>
              <a:ext uri="{FF2B5EF4-FFF2-40B4-BE49-F238E27FC236}">
                <a16:creationId xmlns:a16="http://schemas.microsoft.com/office/drawing/2014/main" id="{E63FDD41-DAE8-E248-683E-3401B56FEA37}"/>
              </a:ext>
            </a:extLst>
          </p:cNvPr>
          <p:cNvSpPr txBox="1"/>
          <p:nvPr/>
        </p:nvSpPr>
        <p:spPr>
          <a:xfrm>
            <a:off x="64922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98" name="Text 17">
            <a:extLst>
              <a:ext uri="{FF2B5EF4-FFF2-40B4-BE49-F238E27FC236}">
                <a16:creationId xmlns:a16="http://schemas.microsoft.com/office/drawing/2014/main" id="{DB404F08-C9B6-B1FD-EBE2-0C346DD2A23E}"/>
              </a:ext>
            </a:extLst>
          </p:cNvPr>
          <p:cNvSpPr txBox="1"/>
          <p:nvPr/>
        </p:nvSpPr>
        <p:spPr>
          <a:xfrm>
            <a:off x="6473952" y="34747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estrategias algorítmicas</a:t>
            </a:r>
            <a:endParaRPr lang="en-US" sz="1350" dirty="0"/>
          </a:p>
        </p:txBody>
      </p:sp>
      <p:sp>
        <p:nvSpPr>
          <p:cNvPr id="100" name="Text 18">
            <a:extLst>
              <a:ext uri="{FF2B5EF4-FFF2-40B4-BE49-F238E27FC236}">
                <a16:creationId xmlns:a16="http://schemas.microsoft.com/office/drawing/2014/main" id="{E700ADB2-AF55-2233-365E-A5CD9E8303B8}"/>
              </a:ext>
            </a:extLst>
          </p:cNvPr>
          <p:cNvSpPr txBox="1"/>
          <p:nvPr/>
        </p:nvSpPr>
        <p:spPr>
          <a:xfrm>
            <a:off x="6473952" y="4206240"/>
            <a:ext cx="2359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al menos dos estrategias de búsqueda geoespacial, evaluadas contra casos de verificación.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2" name="Shape 19">
            <a:extLst>
              <a:ext uri="{FF2B5EF4-FFF2-40B4-BE49-F238E27FC236}">
                <a16:creationId xmlns:a16="http://schemas.microsoft.com/office/drawing/2014/main" id="{E9EC16A3-E89A-3E1C-A06C-26B91D49C21E}"/>
              </a:ext>
            </a:extLst>
          </p:cNvPr>
          <p:cNvSpPr/>
          <p:nvPr/>
        </p:nvSpPr>
        <p:spPr>
          <a:xfrm>
            <a:off x="9162288" y="2606040"/>
            <a:ext cx="2724912" cy="3246120"/>
          </a:xfrm>
          <a:prstGeom prst="roundRect">
            <a:avLst>
              <a:gd name="adj" fmla="val 2349"/>
            </a:avLst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txBody>
          <a:bodyPr/>
          <a:lstStyle/>
          <a:p>
            <a:endParaRPr lang="es-CL"/>
          </a:p>
        </p:txBody>
      </p:sp>
      <p:sp>
        <p:nvSpPr>
          <p:cNvPr id="104" name="Shape 20">
            <a:extLst>
              <a:ext uri="{FF2B5EF4-FFF2-40B4-BE49-F238E27FC236}">
                <a16:creationId xmlns:a16="http://schemas.microsoft.com/office/drawing/2014/main" id="{915862E9-479B-9EE8-F9FD-F7E42431A09A}"/>
              </a:ext>
            </a:extLst>
          </p:cNvPr>
          <p:cNvSpPr/>
          <p:nvPr/>
        </p:nvSpPr>
        <p:spPr>
          <a:xfrm>
            <a:off x="9363456" y="2834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6" name="Text 21">
            <a:extLst>
              <a:ext uri="{FF2B5EF4-FFF2-40B4-BE49-F238E27FC236}">
                <a16:creationId xmlns:a16="http://schemas.microsoft.com/office/drawing/2014/main" id="{2419BCA1-F7C0-BBA1-C6B2-2FB7774201CF}"/>
              </a:ext>
            </a:extLst>
          </p:cNvPr>
          <p:cNvSpPr txBox="1"/>
          <p:nvPr/>
        </p:nvSpPr>
        <p:spPr>
          <a:xfrm>
            <a:off x="9363456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08" name="Text 22">
            <a:extLst>
              <a:ext uri="{FF2B5EF4-FFF2-40B4-BE49-F238E27FC236}">
                <a16:creationId xmlns:a16="http://schemas.microsoft.com/office/drawing/2014/main" id="{07F3CC05-8FA2-28EB-67BA-DD282AED3BE3}"/>
              </a:ext>
            </a:extLst>
          </p:cNvPr>
          <p:cNvSpPr txBox="1"/>
          <p:nvPr/>
        </p:nvSpPr>
        <p:spPr>
          <a:xfrm>
            <a:off x="9345168" y="3474720"/>
            <a:ext cx="235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Prototipar y validar con usuarios</a:t>
            </a:r>
            <a:endParaRPr lang="en-US" sz="1350" dirty="0"/>
          </a:p>
        </p:txBody>
      </p:sp>
      <p:sp>
        <p:nvSpPr>
          <p:cNvPr id="110" name="Text 23">
            <a:extLst>
              <a:ext uri="{FF2B5EF4-FFF2-40B4-BE49-F238E27FC236}">
                <a16:creationId xmlns:a16="http://schemas.microsoft.com/office/drawing/2014/main" id="{6E1391D9-7460-4D12-4B93-6E612B348195}"/>
              </a:ext>
            </a:extLst>
          </p:cNvPr>
          <p:cNvSpPr txBox="1"/>
          <p:nvPr/>
        </p:nvSpPr>
        <p:spPr>
          <a:xfrm>
            <a:off x="9345168" y="4206240"/>
            <a:ext cx="235915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prototipo funcional y medir su efectividad con usuarios reales.</a:t>
            </a:r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2" name="Text 24">
            <a:extLst>
              <a:ext uri="{FF2B5EF4-FFF2-40B4-BE49-F238E27FC236}">
                <a16:creationId xmlns:a16="http://schemas.microsoft.com/office/drawing/2014/main" id="{B3ADCC57-DE5C-CE64-E480-6881BDA4A032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000" dirty="0"/>
          </a:p>
        </p:txBody>
      </p:sp>
      <p:sp>
        <p:nvSpPr>
          <p:cNvPr id="114" name="Text 25">
            <a:extLst>
              <a:ext uri="{FF2B5EF4-FFF2-40B4-BE49-F238E27FC236}">
                <a16:creationId xmlns:a16="http://schemas.microsoft.com/office/drawing/2014/main" id="{1C5FB2EE-8C8C-7A28-B095-75D55C9467D1}"/>
              </a:ext>
            </a:extLst>
          </p:cNvPr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153693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B75762-5DA7-7038-F6B4-3BBED03A4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38C2763D-68C6-EAF7-E2C7-D1B3D0B6EBE9}"/>
              </a:ext>
            </a:extLst>
          </p:cNvPr>
          <p:cNvSpPr txBox="1"/>
          <p:nvPr/>
        </p:nvSpPr>
        <p:spPr>
          <a:xfrm>
            <a:off x="548640" y="4114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chemeClr val="bg1"/>
                </a:solidFill>
                <a:latin typeface="Cambria"/>
              </a:rPr>
              <a:t>Metodología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7E10089-8225-601B-3F5F-8CA78F60EDAB}"/>
              </a:ext>
            </a:extLst>
          </p:cNvPr>
          <p:cNvSpPr txBox="1"/>
          <p:nvPr/>
        </p:nvSpPr>
        <p:spPr>
          <a:xfrm>
            <a:off x="548640" y="864240"/>
            <a:ext cx="10927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chemeClr val="bg1"/>
                </a:solidFill>
                <a:latin typeface="Calibri"/>
              </a:rPr>
              <a:t>Cuatro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etapas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secuenciales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,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cada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una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con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criterio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de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cierre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(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hito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 de </a:t>
            </a:r>
            <a:r>
              <a:rPr sz="1300" b="0" dirty="0" err="1">
                <a:solidFill>
                  <a:schemeClr val="bg1"/>
                </a:solidFill>
                <a:latin typeface="Calibri"/>
              </a:rPr>
              <a:t>congelamiento</a:t>
            </a:r>
            <a:r>
              <a:rPr sz="1300" b="0" dirty="0">
                <a:solidFill>
                  <a:schemeClr val="bg1"/>
                </a:solidFill>
                <a:latin typeface="Calibri"/>
              </a:rPr>
              <a:t>)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67817CF-A9E3-E4A8-C0A0-13753AF98203}"/>
              </a:ext>
            </a:extLst>
          </p:cNvPr>
          <p:cNvSpPr/>
          <p:nvPr/>
        </p:nvSpPr>
        <p:spPr>
          <a:xfrm>
            <a:off x="548640" y="112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1D6B777-3C96-C589-9204-C107C72DCBC7}"/>
              </a:ext>
            </a:extLst>
          </p:cNvPr>
          <p:cNvSpPr/>
          <p:nvPr/>
        </p:nvSpPr>
        <p:spPr>
          <a:xfrm>
            <a:off x="548640" y="1250000"/>
            <a:ext cx="5400000" cy="20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C61C236F-CED4-46B3-A969-918CB60B7E16}"/>
              </a:ext>
            </a:extLst>
          </p:cNvPr>
          <p:cNvSpPr txBox="1"/>
          <p:nvPr/>
        </p:nvSpPr>
        <p:spPr>
          <a:xfrm>
            <a:off x="668640" y="133000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alibri"/>
              </a:rPr>
              <a:t>M1</a:t>
            </a: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74200A7A-E897-5F66-71CF-DF40DC704713}"/>
              </a:ext>
            </a:extLst>
          </p:cNvPr>
          <p:cNvSpPr txBox="1"/>
          <p:nvPr/>
        </p:nvSpPr>
        <p:spPr>
          <a:xfrm>
            <a:off x="668640" y="1620000"/>
            <a:ext cx="51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Digitalización del dataset</a:t>
            </a:r>
          </a:p>
        </p:txBody>
      </p:sp>
      <p:sp>
        <p:nvSpPr>
          <p:cNvPr id="15" name="TextBox 7">
            <a:extLst>
              <a:ext uri="{FF2B5EF4-FFF2-40B4-BE49-F238E27FC236}">
                <a16:creationId xmlns:a16="http://schemas.microsoft.com/office/drawing/2014/main" id="{BADAA080-817E-819D-25C3-45A96C359B78}"/>
              </a:ext>
            </a:extLst>
          </p:cNvPr>
          <p:cNvSpPr txBox="1"/>
          <p:nvPr/>
        </p:nvSpPr>
        <p:spPr>
          <a:xfrm>
            <a:off x="668640" y="2010000"/>
            <a:ext cx="516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Solicitud formal a SEREMI (RNSTP) → geocodificación de las 21 líneas → reporte de digitalización.
Hito H1: 28 sep 2026.</a:t>
            </a:r>
          </a:p>
        </p:txBody>
      </p:sp>
      <p:sp>
        <p:nvSpPr>
          <p:cNvPr id="17" name="Rectangle 8">
            <a:extLst>
              <a:ext uri="{FF2B5EF4-FFF2-40B4-BE49-F238E27FC236}">
                <a16:creationId xmlns:a16="http://schemas.microsoft.com/office/drawing/2014/main" id="{C3F3714A-0021-7E3B-9A14-9CCCF15DC627}"/>
              </a:ext>
            </a:extLst>
          </p:cNvPr>
          <p:cNvSpPr/>
          <p:nvPr/>
        </p:nvSpPr>
        <p:spPr>
          <a:xfrm>
            <a:off x="6068640" y="1250000"/>
            <a:ext cx="5400000" cy="20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9">
            <a:extLst>
              <a:ext uri="{FF2B5EF4-FFF2-40B4-BE49-F238E27FC236}">
                <a16:creationId xmlns:a16="http://schemas.microsoft.com/office/drawing/2014/main" id="{09791098-EFAE-8BBC-4B56-76C9783C8AFA}"/>
              </a:ext>
            </a:extLst>
          </p:cNvPr>
          <p:cNvSpPr txBox="1"/>
          <p:nvPr/>
        </p:nvSpPr>
        <p:spPr>
          <a:xfrm>
            <a:off x="6188640" y="133000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alibri"/>
              </a:rPr>
              <a:t>M2</a:t>
            </a: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F939A9F5-5B60-EE08-77DF-96DE070D3216}"/>
              </a:ext>
            </a:extLst>
          </p:cNvPr>
          <p:cNvSpPr txBox="1"/>
          <p:nvPr/>
        </p:nvSpPr>
        <p:spPr>
          <a:xfrm>
            <a:off x="6188640" y="1620000"/>
            <a:ext cx="51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Validación en terreno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68E74AD-BED9-F57F-A4EE-C0B5F76FECC0}"/>
              </a:ext>
            </a:extLst>
          </p:cNvPr>
          <p:cNvSpPr txBox="1"/>
          <p:nvPr/>
        </p:nvSpPr>
        <p:spPr>
          <a:xfrm>
            <a:off x="6188640" y="2010000"/>
            <a:ext cx="516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Verificación muestral como pasajero pagante. Construcción del ground truth (conjunto de verificación).
Hito H2: 12 oct 2026.</a:t>
            </a:r>
          </a:p>
        </p:txBody>
      </p:sp>
      <p:sp>
        <p:nvSpPr>
          <p:cNvPr id="25" name="Rectangle 12">
            <a:extLst>
              <a:ext uri="{FF2B5EF4-FFF2-40B4-BE49-F238E27FC236}">
                <a16:creationId xmlns:a16="http://schemas.microsoft.com/office/drawing/2014/main" id="{8FC12277-5231-3043-F8A5-A118784B7DA0}"/>
              </a:ext>
            </a:extLst>
          </p:cNvPr>
          <p:cNvSpPr/>
          <p:nvPr/>
        </p:nvSpPr>
        <p:spPr>
          <a:xfrm>
            <a:off x="548640" y="3450000"/>
            <a:ext cx="5400000" cy="20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13">
            <a:extLst>
              <a:ext uri="{FF2B5EF4-FFF2-40B4-BE49-F238E27FC236}">
                <a16:creationId xmlns:a16="http://schemas.microsoft.com/office/drawing/2014/main" id="{8A1C255E-D081-BC79-0BE7-0B1D6814C09F}"/>
              </a:ext>
            </a:extLst>
          </p:cNvPr>
          <p:cNvSpPr txBox="1"/>
          <p:nvPr/>
        </p:nvSpPr>
        <p:spPr>
          <a:xfrm>
            <a:off x="668640" y="353000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alibri"/>
              </a:rPr>
              <a:t>M3</a:t>
            </a:r>
          </a:p>
        </p:txBody>
      </p:sp>
      <p:sp>
        <p:nvSpPr>
          <p:cNvPr id="29" name="TextBox 14">
            <a:extLst>
              <a:ext uri="{FF2B5EF4-FFF2-40B4-BE49-F238E27FC236}">
                <a16:creationId xmlns:a16="http://schemas.microsoft.com/office/drawing/2014/main" id="{F7406069-7071-9A5F-349A-65E904169377}"/>
              </a:ext>
            </a:extLst>
          </p:cNvPr>
          <p:cNvSpPr txBox="1"/>
          <p:nvPr/>
        </p:nvSpPr>
        <p:spPr>
          <a:xfrm>
            <a:off x="668640" y="3820000"/>
            <a:ext cx="51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Diseño algorítmico</a:t>
            </a: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61AEA7AD-8718-749F-03EB-F009A3BD7433}"/>
              </a:ext>
            </a:extLst>
          </p:cNvPr>
          <p:cNvSpPr txBox="1"/>
          <p:nvPr/>
        </p:nvSpPr>
        <p:spPr>
          <a:xfrm>
            <a:off x="668640" y="4210000"/>
            <a:ext cx="516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Al menos dos estrategias geoespaciales (proximidad a vértices y proyección sobre segmento) evaluadas con métricas de precisión.
Hito H3: 2 nov 2026.</a:t>
            </a:r>
          </a:p>
        </p:txBody>
      </p:sp>
      <p:sp>
        <p:nvSpPr>
          <p:cNvPr id="33" name="Rectangle 16">
            <a:extLst>
              <a:ext uri="{FF2B5EF4-FFF2-40B4-BE49-F238E27FC236}">
                <a16:creationId xmlns:a16="http://schemas.microsoft.com/office/drawing/2014/main" id="{98A8A215-8F62-D583-9007-FB8601146760}"/>
              </a:ext>
            </a:extLst>
          </p:cNvPr>
          <p:cNvSpPr/>
          <p:nvPr/>
        </p:nvSpPr>
        <p:spPr>
          <a:xfrm>
            <a:off x="6068640" y="3450000"/>
            <a:ext cx="5400000" cy="2000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D0D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17">
            <a:extLst>
              <a:ext uri="{FF2B5EF4-FFF2-40B4-BE49-F238E27FC236}">
                <a16:creationId xmlns:a16="http://schemas.microsoft.com/office/drawing/2014/main" id="{26A37C51-4B06-8828-DB78-6E248DF96CFE}"/>
              </a:ext>
            </a:extLst>
          </p:cNvPr>
          <p:cNvSpPr txBox="1"/>
          <p:nvPr/>
        </p:nvSpPr>
        <p:spPr>
          <a:xfrm>
            <a:off x="6188640" y="3530000"/>
            <a:ext cx="7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  <a:latin typeface="Calibri"/>
              </a:rPr>
              <a:t>M4</a:t>
            </a:r>
          </a:p>
        </p:txBody>
      </p:sp>
      <p:sp>
        <p:nvSpPr>
          <p:cNvPr id="37" name="TextBox 18">
            <a:extLst>
              <a:ext uri="{FF2B5EF4-FFF2-40B4-BE49-F238E27FC236}">
                <a16:creationId xmlns:a16="http://schemas.microsoft.com/office/drawing/2014/main" id="{D01E5BE4-CAC8-ECB0-7987-7541286EF7AE}"/>
              </a:ext>
            </a:extLst>
          </p:cNvPr>
          <p:cNvSpPr txBox="1"/>
          <p:nvPr/>
        </p:nvSpPr>
        <p:spPr>
          <a:xfrm>
            <a:off x="6188640" y="3820000"/>
            <a:ext cx="516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2A4A"/>
                </a:solidFill>
                <a:latin typeface="Calibri"/>
              </a:rPr>
              <a:t>Prototipo y evaluación</a:t>
            </a: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9945051C-7B34-83A0-4113-CECF8681B8C9}"/>
              </a:ext>
            </a:extLst>
          </p:cNvPr>
          <p:cNvSpPr txBox="1"/>
          <p:nvPr/>
        </p:nvSpPr>
        <p:spPr>
          <a:xfrm>
            <a:off x="6188640" y="4210000"/>
            <a:ext cx="5160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</a:rPr>
              <a:t>Interfaz funcional con visualización en mapa. Evaluación de usabilidad con usuarios reales (muestra dirigida).
Hito H4-H5: nov–dic 2026.</a:t>
            </a:r>
          </a:p>
        </p:txBody>
      </p:sp>
      <p:sp>
        <p:nvSpPr>
          <p:cNvPr id="41" name="TextBox 20">
            <a:extLst>
              <a:ext uri="{FF2B5EF4-FFF2-40B4-BE49-F238E27FC236}">
                <a16:creationId xmlns:a16="http://schemas.microsoft.com/office/drawing/2014/main" id="{9F157530-01D4-B293-1518-5FFD0FAA4F61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9A9A"/>
                </a:solidFill>
                <a:latin typeface="Calibri"/>
              </a:rPr>
              <a:t>Metodología</a:t>
            </a:r>
          </a:p>
        </p:txBody>
      </p:sp>
      <p:sp>
        <p:nvSpPr>
          <p:cNvPr id="43" name="TextBox 21">
            <a:extLst>
              <a:ext uri="{FF2B5EF4-FFF2-40B4-BE49-F238E27FC236}">
                <a16:creationId xmlns:a16="http://schemas.microsoft.com/office/drawing/2014/main" id="{07FD9213-9681-BD1E-B342-37F8478634CC}"/>
              </a:ext>
            </a:extLst>
          </p:cNvPr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9A9A"/>
                </a:solidFill>
                <a:latin typeface="Calibri"/>
              </a:rPr>
              <a:t>Francisco Miranda · Ing. en Computación e Informática · UMAG</a:t>
            </a:r>
          </a:p>
        </p:txBody>
      </p:sp>
    </p:spTree>
    <p:extLst>
      <p:ext uri="{BB962C8B-B14F-4D97-AF65-F5344CB8AC3E}">
        <p14:creationId xmlns:p14="http://schemas.microsoft.com/office/powerpoint/2010/main" val="1324333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4AEFA6-E4C8-B481-EF58-C5B0B900A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9D462EA-8B72-BB8E-59E4-597D6793AF67}"/>
              </a:ext>
            </a:extLst>
          </p:cNvPr>
          <p:cNvSpPr txBox="1"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Avances — Propuesta y planteamiento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0B4B1C3-A041-7FB8-2355-829400CE74B4}"/>
              </a:ext>
            </a:extLst>
          </p:cNvPr>
          <p:cNvSpPr/>
          <p:nvPr/>
        </p:nvSpPr>
        <p:spPr>
          <a:xfrm>
            <a:off x="548640" y="1517904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8E6C5AD3-326C-C47F-639C-C1CD06E20567}"/>
              </a:ext>
            </a:extLst>
          </p:cNvPr>
          <p:cNvSpPr txBox="1"/>
          <p:nvPr/>
        </p:nvSpPr>
        <p:spPr>
          <a:xfrm>
            <a:off x="548640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48268934-DF27-0C07-FDC6-08861EF91C94}"/>
              </a:ext>
            </a:extLst>
          </p:cNvPr>
          <p:cNvSpPr txBox="1"/>
          <p:nvPr/>
        </p:nvSpPr>
        <p:spPr>
          <a:xfrm>
            <a:off x="1143000" y="1463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formalizada y aprobada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04B27930-D25C-A26A-3548-3DC3B26C5FE3}"/>
              </a:ext>
            </a:extLst>
          </p:cNvPr>
          <p:cNvSpPr txBox="1"/>
          <p:nvPr/>
        </p:nvSpPr>
        <p:spPr>
          <a:xfrm>
            <a:off x="1143000" y="1865376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completo (contexto, objetivos, metodología, alcance, riesgos y cronograma) revisado y aprobado por el profesor guía, Eduardo Peña Jaramillo.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9F7762A6-6D3F-A849-C8DB-948172B8DE3D}"/>
              </a:ext>
            </a:extLst>
          </p:cNvPr>
          <p:cNvSpPr/>
          <p:nvPr/>
        </p:nvSpPr>
        <p:spPr>
          <a:xfrm>
            <a:off x="548640" y="2615184"/>
            <a:ext cx="109270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44" name="Shape 10">
            <a:extLst>
              <a:ext uri="{FF2B5EF4-FFF2-40B4-BE49-F238E27FC236}">
                <a16:creationId xmlns:a16="http://schemas.microsoft.com/office/drawing/2014/main" id="{A96409D3-4CEB-5CA0-F8D4-E0896FD4A6A4}"/>
              </a:ext>
            </a:extLst>
          </p:cNvPr>
          <p:cNvSpPr/>
          <p:nvPr/>
        </p:nvSpPr>
        <p:spPr>
          <a:xfrm>
            <a:off x="548640" y="3840480"/>
            <a:ext cx="109270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838EF458-DF66-4AFB-9E2A-18E12B2FB0DE}"/>
              </a:ext>
            </a:extLst>
          </p:cNvPr>
          <p:cNvSpPr/>
          <p:nvPr/>
        </p:nvSpPr>
        <p:spPr>
          <a:xfrm>
            <a:off x="548640" y="2926079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48" name="Text 12">
            <a:extLst>
              <a:ext uri="{FF2B5EF4-FFF2-40B4-BE49-F238E27FC236}">
                <a16:creationId xmlns:a16="http://schemas.microsoft.com/office/drawing/2014/main" id="{10DE313E-CD60-66E2-E007-5448AB7E96C5}"/>
              </a:ext>
            </a:extLst>
          </p:cNvPr>
          <p:cNvSpPr txBox="1"/>
          <p:nvPr/>
        </p:nvSpPr>
        <p:spPr>
          <a:xfrm>
            <a:off x="548640" y="292607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D02C8F3C-0CD1-DD0A-6D4A-DBA391876403}"/>
              </a:ext>
            </a:extLst>
          </p:cNvPr>
          <p:cNvSpPr txBox="1"/>
          <p:nvPr/>
        </p:nvSpPr>
        <p:spPr>
          <a:xfrm>
            <a:off x="1143000" y="2871215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operacional formalizada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BC180319-2362-C1AC-17ED-CFEE633A275F}"/>
              </a:ext>
            </a:extLst>
          </p:cNvPr>
          <p:cNvSpPr txBox="1"/>
          <p:nvPr/>
        </p:nvSpPr>
        <p:spPr>
          <a:xfrm>
            <a:off x="1143000" y="3273551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estableció con precisión qué significa que una línea "sirva" un trayecto: radio de proximidad, sentido de circulación y orden origen → destino.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4" name="Shape 15">
            <a:extLst>
              <a:ext uri="{FF2B5EF4-FFF2-40B4-BE49-F238E27FC236}">
                <a16:creationId xmlns:a16="http://schemas.microsoft.com/office/drawing/2014/main" id="{4EF4F475-CF78-18FC-94E3-6D4A6449B3B3}"/>
              </a:ext>
            </a:extLst>
          </p:cNvPr>
          <p:cNvSpPr/>
          <p:nvPr/>
        </p:nvSpPr>
        <p:spPr>
          <a:xfrm>
            <a:off x="548640" y="5065776"/>
            <a:ext cx="10927080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56" name="Shape 16">
            <a:extLst>
              <a:ext uri="{FF2B5EF4-FFF2-40B4-BE49-F238E27FC236}">
                <a16:creationId xmlns:a16="http://schemas.microsoft.com/office/drawing/2014/main" id="{A672A981-C1D5-3EE8-4E39-49DECB4E7381}"/>
              </a:ext>
            </a:extLst>
          </p:cNvPr>
          <p:cNvSpPr/>
          <p:nvPr/>
        </p:nvSpPr>
        <p:spPr>
          <a:xfrm>
            <a:off x="548640" y="4151375"/>
            <a:ext cx="384048" cy="384048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>
              <a:solidFill>
                <a:schemeClr val="bg1"/>
              </a:solidFill>
            </a:endParaRPr>
          </a:p>
        </p:txBody>
      </p:sp>
      <p:sp>
        <p:nvSpPr>
          <p:cNvPr id="58" name="Text 17">
            <a:extLst>
              <a:ext uri="{FF2B5EF4-FFF2-40B4-BE49-F238E27FC236}">
                <a16:creationId xmlns:a16="http://schemas.microsoft.com/office/drawing/2014/main" id="{67F5296B-1DA8-A3BC-DAE7-36C4EF514411}"/>
              </a:ext>
            </a:extLst>
          </p:cNvPr>
          <p:cNvSpPr txBox="1"/>
          <p:nvPr/>
        </p:nvSpPr>
        <p:spPr>
          <a:xfrm>
            <a:off x="548640" y="415137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38B707F7-2370-17AF-534A-24EE091AD80C}"/>
              </a:ext>
            </a:extLst>
          </p:cNvPr>
          <p:cNvSpPr txBox="1"/>
          <p:nvPr/>
        </p:nvSpPr>
        <p:spPr>
          <a:xfrm>
            <a:off x="1143000" y="4096511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 de datos en curso</a:t>
            </a:r>
            <a:endParaRPr lang="en-US" sz="1550" dirty="0">
              <a:solidFill>
                <a:schemeClr val="bg1"/>
              </a:solidFill>
            </a:endParaRPr>
          </a:p>
        </p:txBody>
      </p:sp>
      <p:sp>
        <p:nvSpPr>
          <p:cNvPr id="62" name="Text 19">
            <a:extLst>
              <a:ext uri="{FF2B5EF4-FFF2-40B4-BE49-F238E27FC236}">
                <a16:creationId xmlns:a16="http://schemas.microsoft.com/office/drawing/2014/main" id="{222D7651-0F44-F0DA-F5BD-AA4DC5CBCB13}"/>
              </a:ext>
            </a:extLst>
          </p:cNvPr>
          <p:cNvSpPr txBox="1"/>
          <p:nvPr/>
        </p:nvSpPr>
        <p:spPr>
          <a:xfrm>
            <a:off x="1143000" y="4246959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del cronograma: solicitud formal de los trazados oficiales a la SEREMI de Transportes de Magallanes (RNSTP).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4" name="Text 20">
            <a:extLst>
              <a:ext uri="{FF2B5EF4-FFF2-40B4-BE49-F238E27FC236}">
                <a16:creationId xmlns:a16="http://schemas.microsoft.com/office/drawing/2014/main" id="{DC4AA15A-4F7C-D948-9A99-C7B3678815A0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6" name="Text 21">
            <a:extLst>
              <a:ext uri="{FF2B5EF4-FFF2-40B4-BE49-F238E27FC236}">
                <a16:creationId xmlns:a16="http://schemas.microsoft.com/office/drawing/2014/main" id="{D86196F1-18A9-B8A5-D5E2-5C65517D432F}"/>
              </a:ext>
            </a:extLst>
          </p:cNvPr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48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>
            <a:extLst>
              <a:ext uri="{FF2B5EF4-FFF2-40B4-BE49-F238E27FC236}">
                <a16:creationId xmlns:a16="http://schemas.microsoft.com/office/drawing/2014/main" id="{C51A56BD-D5B9-14DC-9590-04DA8076AC89}"/>
              </a:ext>
            </a:extLst>
          </p:cNvPr>
          <p:cNvSpPr/>
          <p:nvPr/>
        </p:nvSpPr>
        <p:spPr>
          <a:xfrm>
            <a:off x="-1325880" y="-1257300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D117162C-1748-1314-3CA6-F3890DB19DC9}"/>
              </a:ext>
            </a:extLst>
          </p:cNvPr>
          <p:cNvSpPr/>
          <p:nvPr/>
        </p:nvSpPr>
        <p:spPr>
          <a:xfrm>
            <a:off x="10441305" y="5157216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Text 0"/>
          <p:cNvSpPr txBox="1"/>
          <p:nvPr/>
        </p:nvSpPr>
        <p:spPr>
          <a:xfrm>
            <a:off x="548640" y="3657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Avances —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Prototipo</a:t>
            </a: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8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concepto con datos ficticios, para validar el algoritmo antes de tener el dataset real</a:t>
            </a:r>
            <a:endParaRPr lang="en-US" sz="1300" dirty="0"/>
          </a:p>
        </p:txBody>
      </p:sp>
      <p:pic>
        <p:nvPicPr>
          <p:cNvPr id="4" name="Image 0" descr="/home/claude/pptx_assets/app_screenshot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84" y="1572768"/>
            <a:ext cx="7877476" cy="3904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01000" y="1417320"/>
            <a:ext cx="3657600" cy="3675888"/>
          </a:xfrm>
          <a:prstGeom prst="roundRect">
            <a:avLst>
              <a:gd name="adj" fmla="val 1750"/>
            </a:avLst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4"/>
          <p:cNvSpPr txBox="1"/>
          <p:nvPr/>
        </p:nvSpPr>
        <p:spPr>
          <a:xfrm>
            <a:off x="822960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la prueba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0" y="2039112"/>
            <a:ext cx="118872" cy="1188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 txBox="1"/>
          <p:nvPr/>
        </p:nvSpPr>
        <p:spPr>
          <a:xfrm>
            <a:off x="8485632" y="1938528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Trazados con forma de calle realista (curvas y esquinas, no líneas rectas), simulando el centro con alta superposición.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2788920"/>
            <a:ext cx="118872" cy="1188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 txBox="1"/>
          <p:nvPr/>
        </p:nvSpPr>
        <p:spPr>
          <a:xfrm>
            <a:off x="8485632" y="2688336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estrategias comparadas: proximidad a vértices vs. proyección sobre segmento.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3538728"/>
            <a:ext cx="118872" cy="1188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0"/>
          <p:cNvSpPr txBox="1"/>
          <p:nvPr/>
        </p:nvSpPr>
        <p:spPr>
          <a:xfrm>
            <a:off x="8485632" y="3438144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incorporó sentido de circulación: evita recomendar una línea en dirección contraria.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4288536"/>
            <a:ext cx="118872" cy="118872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 txBox="1"/>
          <p:nvPr/>
        </p:nvSpPr>
        <p:spPr>
          <a:xfrm>
            <a:off x="8485632" y="4187952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estrategias ya discreparon en casos reales de prueba — la evidencia que necesita la tesis.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Avances — Prototipo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B43F5-FCC4-97EA-7AA3-AB4CD0665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>
            <a:extLst>
              <a:ext uri="{FF2B5EF4-FFF2-40B4-BE49-F238E27FC236}">
                <a16:creationId xmlns:a16="http://schemas.microsoft.com/office/drawing/2014/main" id="{54335E9A-7772-1604-9509-3C5F6FAD5203}"/>
              </a:ext>
            </a:extLst>
          </p:cNvPr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A21B10B7-F9FC-D7AA-502C-1D59FD483B11}"/>
              </a:ext>
            </a:extLst>
          </p:cNvPr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interna: diciembre 2026 · Plazo institucional: marzo 2027 (margen de contingencia)</a:t>
            </a:r>
            <a:endParaRPr lang="en-US" sz="1300" dirty="0">
              <a:solidFill>
                <a:schemeClr val="bg1"/>
              </a:solidFill>
            </a:endParaRPr>
          </a:p>
        </p:txBody>
      </p:sp>
      <p:pic>
        <p:nvPicPr>
          <p:cNvPr id="33" name="Image 0" descr="/home/claude/oficial/gantt.png">
            <a:extLst>
              <a:ext uri="{FF2B5EF4-FFF2-40B4-BE49-F238E27FC236}">
                <a16:creationId xmlns:a16="http://schemas.microsoft.com/office/drawing/2014/main" id="{DC42F22F-3641-4E7B-02AE-1C5E3AFFF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10332720" cy="493776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5" name="Text 2">
            <a:extLst>
              <a:ext uri="{FF2B5EF4-FFF2-40B4-BE49-F238E27FC236}">
                <a16:creationId xmlns:a16="http://schemas.microsoft.com/office/drawing/2014/main" id="{8548264D-4E54-CCA7-0E8B-EFB0E69702B0}"/>
              </a:ext>
            </a:extLst>
          </p:cNvPr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8785E1BF-C476-3434-44A9-9AA9867E65C1}"/>
              </a:ext>
            </a:extLst>
          </p:cNvPr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6954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AE45C-34A7-24FD-EDBB-880EFCAB3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0">
            <a:extLst>
              <a:ext uri="{FF2B5EF4-FFF2-40B4-BE49-F238E27FC236}">
                <a16:creationId xmlns:a16="http://schemas.microsoft.com/office/drawing/2014/main" id="{60DBB1B8-5BE4-7766-1BD6-81EBEB0375CE}"/>
              </a:ext>
            </a:extLst>
          </p:cNvPr>
          <p:cNvSpPr/>
          <p:nvPr/>
        </p:nvSpPr>
        <p:spPr>
          <a:xfrm>
            <a:off x="-1203960" y="-1109105"/>
            <a:ext cx="3840480" cy="384048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2" name="Shape 1">
            <a:extLst>
              <a:ext uri="{FF2B5EF4-FFF2-40B4-BE49-F238E27FC236}">
                <a16:creationId xmlns:a16="http://schemas.microsoft.com/office/drawing/2014/main" id="{8F7D5D1B-DE0F-7DE2-BD73-AB560D9F44BA}"/>
              </a:ext>
            </a:extLst>
          </p:cNvPr>
          <p:cNvSpPr/>
          <p:nvPr/>
        </p:nvSpPr>
        <p:spPr>
          <a:xfrm>
            <a:off x="10363200" y="4594516"/>
            <a:ext cx="2743200" cy="27432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E7C0427A-E327-0B82-6894-BDB61F272C91}"/>
              </a:ext>
            </a:extLst>
          </p:cNvPr>
          <p:cNvSpPr txBox="1"/>
          <p:nvPr/>
        </p:nvSpPr>
        <p:spPr>
          <a:xfrm>
            <a:off x="548640" y="41148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chemeClr val="bg1"/>
                </a:solidFill>
                <a:latin typeface="Cambria"/>
              </a:rPr>
              <a:t>Referencias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8E9AC803-488A-54D9-68E6-680FF02E3F78}"/>
              </a:ext>
            </a:extLst>
          </p:cNvPr>
          <p:cNvSpPr txBox="1"/>
          <p:nvPr/>
        </p:nvSpPr>
        <p:spPr>
          <a:xfrm>
            <a:off x="548640" y="891884"/>
            <a:ext cx="109270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chemeClr val="bg1"/>
                </a:solidFill>
                <a:latin typeface="Calibri"/>
              </a:rPr>
              <a:t>Fuentes empleadas para contextualizar y diseñar el proyecto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6C4F831-2ACA-2E43-4CCB-932F83680F66}"/>
              </a:ext>
            </a:extLst>
          </p:cNvPr>
          <p:cNvSpPr/>
          <p:nvPr/>
        </p:nvSpPr>
        <p:spPr>
          <a:xfrm>
            <a:off x="548640" y="112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8CA5BB4-4DBF-B0FF-BD30-1A73BBB2C3C9}"/>
              </a:ext>
            </a:extLst>
          </p:cNvPr>
          <p:cNvSpPr txBox="1"/>
          <p:nvPr/>
        </p:nvSpPr>
        <p:spPr>
          <a:xfrm>
            <a:off x="548640" y="13025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[1]  Digital Matatus Project — MIT Civic Data Design Lab / Columbia University / Universidad de Nairobi. digitalmatatus.com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CFF1475-B45F-4278-4A5A-306FB9533C9E}"/>
              </a:ext>
            </a:extLst>
          </p:cNvPr>
          <p:cNvSpPr/>
          <p:nvPr/>
        </p:nvSpPr>
        <p:spPr>
          <a:xfrm>
            <a:off x="548640" y="202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6">
            <a:extLst>
              <a:ext uri="{FF2B5EF4-FFF2-40B4-BE49-F238E27FC236}">
                <a16:creationId xmlns:a16="http://schemas.microsoft.com/office/drawing/2014/main" id="{EBFC9EC1-D438-66D6-F809-079FD04C198E}"/>
              </a:ext>
            </a:extLst>
          </p:cNvPr>
          <p:cNvSpPr txBox="1"/>
          <p:nvPr/>
        </p:nvSpPr>
        <p:spPr>
          <a:xfrm>
            <a:off x="548640" y="20700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[2]  General Transit Feed Specification (GTFS) — especificación oficial. gtfs.org</a:t>
            </a: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E7E68E72-4CF3-87C6-2066-5EE6B9881026}"/>
              </a:ext>
            </a:extLst>
          </p:cNvPr>
          <p:cNvSpPr/>
          <p:nvPr/>
        </p:nvSpPr>
        <p:spPr>
          <a:xfrm>
            <a:off x="548640" y="284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09FC42CF-36DE-6566-1FD1-F1AB3F44AC12}"/>
              </a:ext>
            </a:extLst>
          </p:cNvPr>
          <p:cNvSpPr txBox="1"/>
          <p:nvPr/>
        </p:nvSpPr>
        <p:spPr>
          <a:xfrm>
            <a:off x="548640" y="28900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[3]  «Los recorridos de taxicolectivos en Punta Arenas y sus variantes» — ElPinguino.com.</a:t>
            </a: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5838809F-0443-5A5F-B051-D3E4D91B9646}"/>
              </a:ext>
            </a:extLst>
          </p:cNvPr>
          <p:cNvSpPr/>
          <p:nvPr/>
        </p:nvSpPr>
        <p:spPr>
          <a:xfrm>
            <a:off x="548640" y="366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10">
            <a:extLst>
              <a:ext uri="{FF2B5EF4-FFF2-40B4-BE49-F238E27FC236}">
                <a16:creationId xmlns:a16="http://schemas.microsoft.com/office/drawing/2014/main" id="{71F404D1-502D-B954-05E3-C5BFF4E16894}"/>
              </a:ext>
            </a:extLst>
          </p:cNvPr>
          <p:cNvSpPr txBox="1"/>
          <p:nvPr/>
        </p:nvSpPr>
        <p:spPr>
          <a:xfrm>
            <a:off x="548640" y="37100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[4]  Registro Nacional de Servicios de Transporte de Pasajeros (RNSTP) — ChileAtiende.gob.cl.</a:t>
            </a:r>
          </a:p>
        </p:txBody>
      </p:sp>
      <p:sp>
        <p:nvSpPr>
          <p:cNvPr id="23" name="Rectangle 11">
            <a:extLst>
              <a:ext uri="{FF2B5EF4-FFF2-40B4-BE49-F238E27FC236}">
                <a16:creationId xmlns:a16="http://schemas.microsoft.com/office/drawing/2014/main" id="{E50FB4E9-7E5D-065C-7584-E211A504E256}"/>
              </a:ext>
            </a:extLst>
          </p:cNvPr>
          <p:cNvSpPr/>
          <p:nvPr/>
        </p:nvSpPr>
        <p:spPr>
          <a:xfrm>
            <a:off x="548640" y="448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FD3B3285-AFDF-21B0-84C1-1CEB42460A6D}"/>
              </a:ext>
            </a:extLst>
          </p:cNvPr>
          <p:cNvSpPr txBox="1"/>
          <p:nvPr/>
        </p:nvSpPr>
        <p:spPr>
          <a:xfrm>
            <a:off x="548640" y="45300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[5]  Ley N°20.285 sobre Acceso a la Información Pública (Ley de Transparencia) — bcn.cl.</a:t>
            </a:r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B56CD961-CAB3-1F21-C830-BD151D612F22}"/>
              </a:ext>
            </a:extLst>
          </p:cNvPr>
          <p:cNvSpPr/>
          <p:nvPr/>
        </p:nvSpPr>
        <p:spPr>
          <a:xfrm>
            <a:off x="548640" y="5300000"/>
            <a:ext cx="10927080" cy="150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14">
            <a:extLst>
              <a:ext uri="{FF2B5EF4-FFF2-40B4-BE49-F238E27FC236}">
                <a16:creationId xmlns:a16="http://schemas.microsoft.com/office/drawing/2014/main" id="{12C00314-D80C-1DEA-90EE-18DFD5DB7AD3}"/>
              </a:ext>
            </a:extLst>
          </p:cNvPr>
          <p:cNvSpPr txBox="1"/>
          <p:nvPr/>
        </p:nvSpPr>
        <p:spPr>
          <a:xfrm>
            <a:off x="548640" y="5350000"/>
            <a:ext cx="10927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chemeClr val="bg1"/>
                </a:solidFill>
                <a:latin typeface="Calibri"/>
              </a:rPr>
              <a:t>[6]  OpenStreetMap contributors. (2024). OpenStreetMap. openstreetmap.org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99BD46D9-156A-36A0-0088-CEAD860B04FC}"/>
              </a:ext>
            </a:extLst>
          </p:cNvPr>
          <p:cNvSpPr txBox="1"/>
          <p:nvPr/>
        </p:nvSpPr>
        <p:spPr>
          <a:xfrm>
            <a:off x="457200" y="6473952"/>
            <a:ext cx="7315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chemeClr val="bg1"/>
                </a:solidFill>
                <a:latin typeface="Calibri"/>
              </a:rPr>
              <a:t>Referencias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E9613660-1038-8718-E651-538F6ADAD6A6}"/>
              </a:ext>
            </a:extLst>
          </p:cNvPr>
          <p:cNvSpPr txBox="1"/>
          <p:nvPr/>
        </p:nvSpPr>
        <p:spPr>
          <a:xfrm>
            <a:off x="7589520" y="6473952"/>
            <a:ext cx="41148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chemeClr val="bg1"/>
                </a:solidFill>
                <a:latin typeface="Calibri"/>
              </a:rPr>
              <a:t>Francisco Miranda · Ing. en Computación e Informática · UMAG</a:t>
            </a:r>
          </a:p>
        </p:txBody>
      </p:sp>
    </p:spTree>
    <p:extLst>
      <p:ext uri="{BB962C8B-B14F-4D97-AF65-F5344CB8AC3E}">
        <p14:creationId xmlns:p14="http://schemas.microsoft.com/office/powerpoint/2010/main" val="562259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121D33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146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propone digitalizar los trazados oficiales de los colectivos de Punta Arenas —hoy disponibles únicamente como trámite administrativo en la SEREMI— para construir un dataset abierto, y utilizarlo en el diseño y comparación de algoritmos que resuelvan la ambigüedad de recomendación en zonas de alta superposición de líneas, como el centro de la ciudad.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3108960" cy="0"/>
          </a:xfrm>
          <a:prstGeom prst="line">
            <a:avLst/>
          </a:prstGeom>
          <a:noFill/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 txBox="1"/>
          <p:nvPr/>
        </p:nvSpPr>
        <p:spPr>
          <a:xfrm>
            <a:off x="731520" y="4572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gracias por su atención. Quedo a disposición para preguntas y comentarios.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64739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9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Miranda · Ing. en Computación e Informática · UMAG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</TotalTime>
  <Words>1078</Words>
  <Application>Microsoft Office PowerPoint</Application>
  <PresentationFormat>Panorámica</PresentationFormat>
  <Paragraphs>110</Paragraphs>
  <Slides>10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francisco anathael miranda chavez</cp:lastModifiedBy>
  <cp:revision>6</cp:revision>
  <dcterms:created xsi:type="dcterms:W3CDTF">2026-09-09T01:47:25Z</dcterms:created>
  <dcterms:modified xsi:type="dcterms:W3CDTF">2026-09-10T12:23:16Z</dcterms:modified>
</cp:coreProperties>
</file>